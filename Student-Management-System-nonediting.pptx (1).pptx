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Arimo Bold" panose="020B0704020202020204"/>
      <p:regular r:id="rId14"/>
    </p:embeddedFont>
    <p:embeddedFont>
      <p:font typeface="Montserrat Bold" pitchFamily="2" charset="0"/>
      <p:regular r:id="rId15"/>
    </p:embeddedFont>
    <p:embeddedFont>
      <p:font typeface="Montserrat Medium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3.fntdata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2.fntdata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1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7" Type="http://schemas.openxmlformats.org/officeDocument/2006/relationships/image" Target="../media/image10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9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2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 /><Relationship Id="rId3" Type="http://schemas.openxmlformats.org/officeDocument/2006/relationships/image" Target="../media/image13.png" /><Relationship Id="rId7" Type="http://schemas.openxmlformats.org/officeDocument/2006/relationships/image" Target="../media/image17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6.png" /><Relationship Id="rId5" Type="http://schemas.openxmlformats.org/officeDocument/2006/relationships/image" Target="../media/image15.png" /><Relationship Id="rId4" Type="http://schemas.openxmlformats.org/officeDocument/2006/relationships/image" Target="../media/image14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 /><Relationship Id="rId3" Type="http://schemas.openxmlformats.org/officeDocument/2006/relationships/image" Target="../media/image19.png" /><Relationship Id="rId7" Type="http://schemas.openxmlformats.org/officeDocument/2006/relationships/image" Target="../media/image2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2.svg" /><Relationship Id="rId5" Type="http://schemas.openxmlformats.org/officeDocument/2006/relationships/image" Target="../media/image21.png" /><Relationship Id="rId10" Type="http://schemas.openxmlformats.org/officeDocument/2006/relationships/image" Target="../media/image26.svg" /><Relationship Id="rId4" Type="http://schemas.openxmlformats.org/officeDocument/2006/relationships/image" Target="../media/image20.svg" /><Relationship Id="rId9" Type="http://schemas.openxmlformats.org/officeDocument/2006/relationships/image" Target="../media/image25.png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 /><Relationship Id="rId3" Type="http://schemas.openxmlformats.org/officeDocument/2006/relationships/image" Target="../media/image27.png" /><Relationship Id="rId7" Type="http://schemas.openxmlformats.org/officeDocument/2006/relationships/image" Target="../media/image3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0.svg" /><Relationship Id="rId5" Type="http://schemas.openxmlformats.org/officeDocument/2006/relationships/image" Target="../media/image29.png" /><Relationship Id="rId10" Type="http://schemas.openxmlformats.org/officeDocument/2006/relationships/image" Target="../media/image34.svg" /><Relationship Id="rId4" Type="http://schemas.openxmlformats.org/officeDocument/2006/relationships/image" Target="../media/image28.svg" /><Relationship Id="rId9" Type="http://schemas.openxmlformats.org/officeDocument/2006/relationships/image" Target="../media/image33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04D85-BE0E-3225-E829-1213DC4C9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1846" y="168603"/>
            <a:ext cx="7772400" cy="4974897"/>
          </a:xfrm>
        </p:spPr>
        <p:txBody>
          <a:bodyPr>
            <a:normAutofit/>
          </a:bodyPr>
          <a:lstStyle/>
          <a:p>
            <a:r>
              <a:rPr lang="en-IN" sz="8800" dirty="0"/>
              <a:t>Welcome </a:t>
            </a:r>
            <a:endParaRPr lang="en-US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D98C9-5C2C-B9C6-7D97-6DA9F35FF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1843" y="4785055"/>
            <a:ext cx="6400800" cy="3059791"/>
          </a:xfrm>
        </p:spPr>
        <p:txBody>
          <a:bodyPr>
            <a:noAutofit/>
          </a:bodyPr>
          <a:lstStyle/>
          <a:p>
            <a:r>
              <a:rPr lang="en-IN" sz="7200" dirty="0">
                <a:solidFill>
                  <a:schemeClr val="tx1"/>
                </a:solidFill>
              </a:rPr>
              <a:t>This is Muni and Team</a:t>
            </a:r>
            <a:endParaRPr lang="en-US" sz="7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708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794575" y="3195637"/>
            <a:ext cx="9556849" cy="2630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Student </a:t>
            </a:r>
            <a:r>
              <a:rPr lang="en-US" sz="5562" b="1" dirty="0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Management System — Lovable AI Web App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94575" y="6272807"/>
            <a:ext cx="9556849" cy="751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concise overview for school administrators, IT coordinators, and educators evaluating a web-based student management solution built with Lovable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794575" y="2640955"/>
            <a:ext cx="7136755" cy="958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What It 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94575" y="3915221"/>
            <a:ext cx="9556849" cy="179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Student Management System is a web-based platform — built with Lovable AI — that centralizes student records, attendance, marks, fee management, and timetables. Designed for school teams who need accuracy, speed, and simple workflows.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794575" y="6014145"/>
            <a:ext cx="9556849" cy="1565076"/>
            <a:chOff x="0" y="0"/>
            <a:chExt cx="12742465" cy="20867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42418" cy="2086737"/>
            </a:xfrm>
            <a:custGeom>
              <a:avLst/>
              <a:gdLst/>
              <a:ahLst/>
              <a:cxnLst/>
              <a:rect l="l" t="t" r="r" b="b"/>
              <a:pathLst>
                <a:path w="12742418" h="2086737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12688951" y="0"/>
                  </a:lnTo>
                  <a:cubicBezTo>
                    <a:pt x="12718542" y="0"/>
                    <a:pt x="12742418" y="24003"/>
                    <a:pt x="12742418" y="53467"/>
                  </a:cubicBezTo>
                  <a:lnTo>
                    <a:pt x="12742418" y="2033270"/>
                  </a:lnTo>
                  <a:cubicBezTo>
                    <a:pt x="12742418" y="2062861"/>
                    <a:pt x="12718415" y="2086737"/>
                    <a:pt x="12688951" y="2086737"/>
                  </a:cubicBezTo>
                  <a:lnTo>
                    <a:pt x="53467" y="2086737"/>
                  </a:lnTo>
                  <a:cubicBezTo>
                    <a:pt x="23876" y="2086737"/>
                    <a:pt x="0" y="2062734"/>
                    <a:pt x="0" y="2033270"/>
                  </a:cubicBezTo>
                  <a:close/>
                </a:path>
              </a:pathLst>
            </a:custGeom>
            <a:solidFill>
              <a:srgbClr val="4D1700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8062169" y="6419106"/>
            <a:ext cx="334416" cy="267592"/>
            <a:chOff x="0" y="0"/>
            <a:chExt cx="445888" cy="35679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445897" cy="356743"/>
            </a:xfrm>
            <a:custGeom>
              <a:avLst/>
              <a:gdLst/>
              <a:ahLst/>
              <a:cxnLst/>
              <a:rect l="l" t="t" r="r" b="b"/>
              <a:pathLst>
                <a:path w="445897" h="356743">
                  <a:moveTo>
                    <a:pt x="0" y="0"/>
                  </a:moveTo>
                  <a:lnTo>
                    <a:pt x="445897" y="0"/>
                  </a:lnTo>
                  <a:lnTo>
                    <a:pt x="445897" y="356743"/>
                  </a:lnTo>
                  <a:lnTo>
                    <a:pt x="0" y="356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r="-9" b="-13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8664179" y="6262836"/>
            <a:ext cx="8419654" cy="94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Built for browsers and responsive on mobile; focuses on clear data-entry paths and quick access for staff.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56506" y="625376"/>
            <a:ext cx="6526411" cy="86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856506" y="2131070"/>
            <a:ext cx="7988945" cy="7988945"/>
            <a:chOff x="0" y="0"/>
            <a:chExt cx="10651927" cy="10651927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651871" cy="10651871"/>
            </a:xfrm>
            <a:custGeom>
              <a:avLst/>
              <a:gdLst/>
              <a:ahLst/>
              <a:cxnLst/>
              <a:rect l="l" t="t" r="r" b="b"/>
              <a:pathLst>
                <a:path w="10651871" h="10651871">
                  <a:moveTo>
                    <a:pt x="0" y="0"/>
                  </a:moveTo>
                  <a:lnTo>
                    <a:pt x="10651871" y="0"/>
                  </a:lnTo>
                  <a:lnTo>
                    <a:pt x="10651871" y="10651871"/>
                  </a:lnTo>
                  <a:lnTo>
                    <a:pt x="0" y="10651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452074" y="2081361"/>
            <a:ext cx="3263205" cy="426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Current challenges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52074" y="2676822"/>
            <a:ext cx="7988945" cy="467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Manual data entry creates errors and administrative delays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52074" y="3153816"/>
            <a:ext cx="7988945" cy="467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single source of truth for attendance, grades, and fees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52074" y="3630811"/>
            <a:ext cx="7988945" cy="467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Fragmented tools increase workload for teachers and staff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18288000" cy="3345359"/>
            <a:chOff x="0" y="0"/>
            <a:chExt cx="24384000" cy="4460478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4460494"/>
            </a:xfrm>
            <a:custGeom>
              <a:avLst/>
              <a:gdLst/>
              <a:ahLst/>
              <a:cxnLst/>
              <a:rect l="l" t="t" r="r" b="b"/>
              <a:pathLst>
                <a:path w="24384000" h="4460494">
                  <a:moveTo>
                    <a:pt x="0" y="0"/>
                  </a:moveTo>
                  <a:lnTo>
                    <a:pt x="24384000" y="0"/>
                  </a:lnTo>
                  <a:lnTo>
                    <a:pt x="24384000" y="4460494"/>
                  </a:lnTo>
                  <a:lnTo>
                    <a:pt x="0" y="4460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1" r="-3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36575" y="4955679"/>
            <a:ext cx="7136755" cy="95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Proposed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6575" y="6229945"/>
            <a:ext cx="16414849" cy="94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Introduce a web-based Student Management System that automates records, streamlines attendance and grading, tracks fees, and generates timetables — all through a clean, role-based interface for admins, teachers, and parents.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6575" y="7472809"/>
            <a:ext cx="16414849" cy="1137046"/>
            <a:chOff x="0" y="0"/>
            <a:chExt cx="21886465" cy="15160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886545" cy="1516126"/>
            </a:xfrm>
            <a:custGeom>
              <a:avLst/>
              <a:gdLst/>
              <a:ahLst/>
              <a:cxnLst/>
              <a:rect l="l" t="t" r="r" b="b"/>
              <a:pathLst>
                <a:path w="21886545" h="1516126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21832951" y="0"/>
                  </a:lnTo>
                  <a:cubicBezTo>
                    <a:pt x="21862542" y="0"/>
                    <a:pt x="21886545" y="24003"/>
                    <a:pt x="21886545" y="53594"/>
                  </a:cubicBezTo>
                  <a:lnTo>
                    <a:pt x="21886545" y="1462532"/>
                  </a:lnTo>
                  <a:cubicBezTo>
                    <a:pt x="21886545" y="1492123"/>
                    <a:pt x="21862542" y="1516126"/>
                    <a:pt x="21832951" y="1516126"/>
                  </a:cubicBezTo>
                  <a:lnTo>
                    <a:pt x="53594" y="1516126"/>
                  </a:lnTo>
                  <a:cubicBezTo>
                    <a:pt x="24003" y="1516126"/>
                    <a:pt x="0" y="1492123"/>
                    <a:pt x="0" y="1462532"/>
                  </a:cubicBezTo>
                  <a:close/>
                </a:path>
              </a:pathLst>
            </a:custGeom>
            <a:solidFill>
              <a:srgbClr val="4D1700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04169" y="7877770"/>
            <a:ext cx="334416" cy="267592"/>
            <a:chOff x="0" y="0"/>
            <a:chExt cx="445888" cy="35679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445897" cy="356743"/>
            </a:xfrm>
            <a:custGeom>
              <a:avLst/>
              <a:gdLst/>
              <a:ahLst/>
              <a:cxnLst/>
              <a:rect l="l" t="t" r="r" b="b"/>
              <a:pathLst>
                <a:path w="445897" h="356743">
                  <a:moveTo>
                    <a:pt x="0" y="0"/>
                  </a:moveTo>
                  <a:lnTo>
                    <a:pt x="445897" y="0"/>
                  </a:lnTo>
                  <a:lnTo>
                    <a:pt x="445897" y="356743"/>
                  </a:lnTo>
                  <a:lnTo>
                    <a:pt x="0" y="356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r="-9" b="-13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806179" y="7721501"/>
            <a:ext cx="15277654" cy="51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Emphasis: reduce manual tasks, centralize data, and enable secure role-based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0622" y="693092"/>
            <a:ext cx="5672584" cy="747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Key Features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30622" y="1865709"/>
            <a:ext cx="3125837" cy="1931789"/>
            <a:chOff x="0" y="0"/>
            <a:chExt cx="4167783" cy="257571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4167759" cy="2575687"/>
            </a:xfrm>
            <a:custGeom>
              <a:avLst/>
              <a:gdLst/>
              <a:ahLst/>
              <a:cxnLst/>
              <a:rect l="l" t="t" r="r" b="b"/>
              <a:pathLst>
                <a:path w="4167759" h="2575687">
                  <a:moveTo>
                    <a:pt x="0" y="0"/>
                  </a:moveTo>
                  <a:lnTo>
                    <a:pt x="4167759" y="0"/>
                  </a:lnTo>
                  <a:lnTo>
                    <a:pt x="4167759" y="2575687"/>
                  </a:lnTo>
                  <a:lnTo>
                    <a:pt x="0" y="2575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2" b="-7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30622" y="3981599"/>
            <a:ext cx="3142357" cy="383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1. Student Registration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0622" y="4425554"/>
            <a:ext cx="3907334" cy="747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Fast intake forms, bulk imports, and unique IDs for reliable records.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5103762" y="1865709"/>
            <a:ext cx="3125837" cy="1931789"/>
            <a:chOff x="0" y="0"/>
            <a:chExt cx="4167783" cy="2575718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4167759" cy="2575687"/>
            </a:xfrm>
            <a:custGeom>
              <a:avLst/>
              <a:gdLst/>
              <a:ahLst/>
              <a:cxnLst/>
              <a:rect l="l" t="t" r="r" b="b"/>
              <a:pathLst>
                <a:path w="4167759" h="2575687">
                  <a:moveTo>
                    <a:pt x="0" y="0"/>
                  </a:moveTo>
                  <a:lnTo>
                    <a:pt x="4167759" y="0"/>
                  </a:lnTo>
                  <a:lnTo>
                    <a:pt x="4167759" y="2575687"/>
                  </a:lnTo>
                  <a:lnTo>
                    <a:pt x="0" y="2575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2" b="-73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5103762" y="3981599"/>
            <a:ext cx="3751361" cy="383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2. Attendance Management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03762" y="4425554"/>
            <a:ext cx="3907334" cy="108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Daily attendance, reports, and absence tracking with exportable logs.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9276904" y="1865709"/>
            <a:ext cx="3125837" cy="1931789"/>
            <a:chOff x="0" y="0"/>
            <a:chExt cx="4167783" cy="2575718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4167759" cy="2575687"/>
            </a:xfrm>
            <a:custGeom>
              <a:avLst/>
              <a:gdLst/>
              <a:ahLst/>
              <a:cxnLst/>
              <a:rect l="l" t="t" r="r" b="b"/>
              <a:pathLst>
                <a:path w="4167759" h="2575687">
                  <a:moveTo>
                    <a:pt x="0" y="0"/>
                  </a:moveTo>
                  <a:lnTo>
                    <a:pt x="4167759" y="0"/>
                  </a:lnTo>
                  <a:lnTo>
                    <a:pt x="4167759" y="2575687"/>
                  </a:lnTo>
                  <a:lnTo>
                    <a:pt x="0" y="2575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2" b="-73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276904" y="3981599"/>
            <a:ext cx="3030885" cy="383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3. Marks Management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76904" y="4425554"/>
            <a:ext cx="3907334" cy="108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Flexible grade entry, weighted assessments, and per-student reports.</a:t>
            </a:r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3450044" y="1865709"/>
            <a:ext cx="3125838" cy="1931789"/>
            <a:chOff x="0" y="0"/>
            <a:chExt cx="4167783" cy="2575718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4167759" cy="2575687"/>
            </a:xfrm>
            <a:custGeom>
              <a:avLst/>
              <a:gdLst/>
              <a:ahLst/>
              <a:cxnLst/>
              <a:rect l="l" t="t" r="r" b="b"/>
              <a:pathLst>
                <a:path w="4167759" h="2575687">
                  <a:moveTo>
                    <a:pt x="0" y="0"/>
                  </a:moveTo>
                  <a:lnTo>
                    <a:pt x="4167759" y="0"/>
                  </a:lnTo>
                  <a:lnTo>
                    <a:pt x="4167759" y="2575687"/>
                  </a:lnTo>
                  <a:lnTo>
                    <a:pt x="0" y="2575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2" b="-73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3450044" y="3981599"/>
            <a:ext cx="2836218" cy="383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4. Fee Tracking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50044" y="4425554"/>
            <a:ext cx="3907334" cy="747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Invoice generation, payment status, and simple reconciliation tools.</a:t>
            </a:r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930622" y="5938242"/>
            <a:ext cx="3125837" cy="1931789"/>
            <a:chOff x="0" y="0"/>
            <a:chExt cx="4167783" cy="2575718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4167759" cy="2575687"/>
            </a:xfrm>
            <a:custGeom>
              <a:avLst/>
              <a:gdLst/>
              <a:ahLst/>
              <a:cxnLst/>
              <a:rect l="l" t="t" r="r" b="b"/>
              <a:pathLst>
                <a:path w="4167759" h="2575687">
                  <a:moveTo>
                    <a:pt x="0" y="0"/>
                  </a:moveTo>
                  <a:lnTo>
                    <a:pt x="4167759" y="0"/>
                  </a:lnTo>
                  <a:lnTo>
                    <a:pt x="4167759" y="2575687"/>
                  </a:lnTo>
                  <a:lnTo>
                    <a:pt x="0" y="2575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72" b="-73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930622" y="8054131"/>
            <a:ext cx="3295352" cy="383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5. Timetable Generation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0622" y="8498086"/>
            <a:ext cx="3907334" cy="108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Auto-generation, conflict detection, and printable schedules for staff &amp; students.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77341" y="641747"/>
            <a:ext cx="6684912" cy="883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7341" y="2040731"/>
            <a:ext cx="9675316" cy="88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architecture balances modern frontend ergonomics with scalable backend services and secure storage.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7341" y="3068091"/>
            <a:ext cx="9675316" cy="486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25"/>
              </a:lnSpc>
              <a:buFont typeface="Arial"/>
              <a:buChar char="•"/>
            </a:pPr>
            <a:r>
              <a:rPr lang="en-US" sz="1937" b="1">
                <a:solidFill>
                  <a:srgbClr val="F4CA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Frontend:</a:t>
            </a:r>
            <a:r>
              <a:rPr lang="en-US" sz="1937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HTML, CSS, JavaScript, Bootstrap — responsive, accessible UI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7341" y="3556695"/>
            <a:ext cx="9675316" cy="88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25"/>
              </a:lnSpc>
              <a:buFont typeface="Arial"/>
              <a:buChar char="•"/>
            </a:pPr>
            <a:r>
              <a:rPr lang="en-US" sz="1937" b="1">
                <a:solidFill>
                  <a:srgbClr val="F4CA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Backend:</a:t>
            </a:r>
            <a:r>
              <a:rPr lang="en-US" sz="1937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Python Flask with Lovable AI hooks for automation and intelligent workflows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7341" y="4446240"/>
            <a:ext cx="9675316" cy="88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25"/>
              </a:lnSpc>
              <a:buFont typeface="Arial"/>
              <a:buChar char="•"/>
            </a:pPr>
            <a:r>
              <a:rPr lang="en-US" sz="1937" b="1">
                <a:solidFill>
                  <a:srgbClr val="F4CA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Database:</a:t>
            </a:r>
            <a:r>
              <a:rPr lang="en-US" sz="1937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MySQL for relational data; optional Firestore for realtime features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1173569" y="2182862"/>
            <a:ext cx="6246465" cy="6246465"/>
            <a:chOff x="0" y="0"/>
            <a:chExt cx="8328620" cy="832862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8328660" cy="8328660"/>
            </a:xfrm>
            <a:custGeom>
              <a:avLst/>
              <a:gdLst/>
              <a:ahLst/>
              <a:cxnLst/>
              <a:rect l="l" t="t" r="r" b="b"/>
              <a:pathLst>
                <a:path w="8328660" h="8328660">
                  <a:moveTo>
                    <a:pt x="0" y="0"/>
                  </a:moveTo>
                  <a:lnTo>
                    <a:pt x="8328660" y="0"/>
                  </a:lnTo>
                  <a:lnTo>
                    <a:pt x="8328660" y="8328660"/>
                  </a:lnTo>
                  <a:lnTo>
                    <a:pt x="0" y="8328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877341" y="8993089"/>
            <a:ext cx="16533316" cy="1065014"/>
            <a:chOff x="0" y="0"/>
            <a:chExt cx="22044422" cy="14200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44405" cy="1419987"/>
            </a:xfrm>
            <a:custGeom>
              <a:avLst/>
              <a:gdLst/>
              <a:ahLst/>
              <a:cxnLst/>
              <a:rect l="l" t="t" r="r" b="b"/>
              <a:pathLst>
                <a:path w="22044405" h="1419987">
                  <a:moveTo>
                    <a:pt x="0" y="50165"/>
                  </a:moveTo>
                  <a:cubicBezTo>
                    <a:pt x="0" y="22479"/>
                    <a:pt x="22479" y="0"/>
                    <a:pt x="50165" y="0"/>
                  </a:cubicBezTo>
                  <a:lnTo>
                    <a:pt x="21994240" y="0"/>
                  </a:lnTo>
                  <a:cubicBezTo>
                    <a:pt x="22021927" y="0"/>
                    <a:pt x="22044405" y="22479"/>
                    <a:pt x="22044405" y="50165"/>
                  </a:cubicBezTo>
                  <a:lnTo>
                    <a:pt x="22044405" y="1369822"/>
                  </a:lnTo>
                  <a:cubicBezTo>
                    <a:pt x="22044405" y="1397508"/>
                    <a:pt x="22021927" y="1419987"/>
                    <a:pt x="21994240" y="1419987"/>
                  </a:cubicBezTo>
                  <a:lnTo>
                    <a:pt x="50165" y="1419987"/>
                  </a:lnTo>
                  <a:cubicBezTo>
                    <a:pt x="22479" y="1419987"/>
                    <a:pt x="0" y="1397508"/>
                    <a:pt x="0" y="1369822"/>
                  </a:cubicBezTo>
                  <a:close/>
                </a:path>
              </a:pathLst>
            </a:custGeom>
            <a:solidFill>
              <a:srgbClr val="4D1700"/>
            </a:solid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127969" y="9372749"/>
            <a:ext cx="313284" cy="250626"/>
            <a:chOff x="0" y="0"/>
            <a:chExt cx="417712" cy="334168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417703" cy="334137"/>
            </a:xfrm>
            <a:custGeom>
              <a:avLst/>
              <a:gdLst/>
              <a:ahLst/>
              <a:cxnLst/>
              <a:rect l="l" t="t" r="r" b="b"/>
              <a:pathLst>
                <a:path w="417703" h="334137">
                  <a:moveTo>
                    <a:pt x="0" y="0"/>
                  </a:moveTo>
                  <a:lnTo>
                    <a:pt x="417703" y="0"/>
                  </a:lnTo>
                  <a:lnTo>
                    <a:pt x="417703" y="334137"/>
                  </a:lnTo>
                  <a:lnTo>
                    <a:pt x="0" y="334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69" r="-771" b="-9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691879" y="9220646"/>
            <a:ext cx="15468154" cy="48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Design supports modular integrations (SMS/email, payment gateways, single sign-on).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6575" y="2515791"/>
            <a:ext cx="5709345" cy="751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Demo &amp; Screenshots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6575" y="3629025"/>
            <a:ext cx="16414849" cy="409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Live demo includes Login, Dashboard, Attendance, Marks, Fees, and Timetable pages. Try the demo to experience workflows and permissions.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46100" y="4419302"/>
            <a:ext cx="2589907" cy="2589908"/>
            <a:chOff x="0" y="0"/>
            <a:chExt cx="3453210" cy="345321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3453257" cy="3453257"/>
            </a:xfrm>
            <a:custGeom>
              <a:avLst/>
              <a:gdLst/>
              <a:ahLst/>
              <a:cxnLst/>
              <a:rect l="l" t="t" r="r" b="b"/>
              <a:pathLst>
                <a:path w="3453257" h="3453257">
                  <a:moveTo>
                    <a:pt x="0" y="0"/>
                  </a:moveTo>
                  <a:lnTo>
                    <a:pt x="3453257" y="0"/>
                  </a:lnTo>
                  <a:lnTo>
                    <a:pt x="3453257" y="3453257"/>
                  </a:lnTo>
                  <a:lnTo>
                    <a:pt x="0" y="3453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3707160" y="4419302"/>
            <a:ext cx="2590056" cy="2590056"/>
            <a:chOff x="0" y="0"/>
            <a:chExt cx="3453408" cy="345340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3453384" cy="3453384"/>
            </a:xfrm>
            <a:custGeom>
              <a:avLst/>
              <a:gdLst/>
              <a:ahLst/>
              <a:cxnLst/>
              <a:rect l="l" t="t" r="r" b="b"/>
              <a:pathLst>
                <a:path w="3453384" h="3453384">
                  <a:moveTo>
                    <a:pt x="0" y="0"/>
                  </a:moveTo>
                  <a:lnTo>
                    <a:pt x="3453384" y="0"/>
                  </a:lnTo>
                  <a:lnTo>
                    <a:pt x="3453384" y="3453384"/>
                  </a:lnTo>
                  <a:lnTo>
                    <a:pt x="0" y="3453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6468367" y="4419302"/>
            <a:ext cx="2589907" cy="2589908"/>
            <a:chOff x="0" y="0"/>
            <a:chExt cx="3453210" cy="345321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3453257" cy="3453257"/>
            </a:xfrm>
            <a:custGeom>
              <a:avLst/>
              <a:gdLst/>
              <a:ahLst/>
              <a:cxnLst/>
              <a:rect l="l" t="t" r="r" b="b"/>
              <a:pathLst>
                <a:path w="3453257" h="3453257">
                  <a:moveTo>
                    <a:pt x="0" y="0"/>
                  </a:moveTo>
                  <a:lnTo>
                    <a:pt x="3453257" y="0"/>
                  </a:lnTo>
                  <a:lnTo>
                    <a:pt x="3453257" y="3453257"/>
                  </a:lnTo>
                  <a:lnTo>
                    <a:pt x="0" y="3453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9229428" y="4419302"/>
            <a:ext cx="2590056" cy="2590056"/>
            <a:chOff x="0" y="0"/>
            <a:chExt cx="3453408" cy="3453408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3453384" cy="3453384"/>
            </a:xfrm>
            <a:custGeom>
              <a:avLst/>
              <a:gdLst/>
              <a:ahLst/>
              <a:cxnLst/>
              <a:rect l="l" t="t" r="r" b="b"/>
              <a:pathLst>
                <a:path w="3453384" h="3453384">
                  <a:moveTo>
                    <a:pt x="0" y="0"/>
                  </a:moveTo>
                  <a:lnTo>
                    <a:pt x="3453384" y="0"/>
                  </a:lnTo>
                  <a:lnTo>
                    <a:pt x="3453384" y="3453384"/>
                  </a:lnTo>
                  <a:lnTo>
                    <a:pt x="0" y="3453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990635" y="4419302"/>
            <a:ext cx="2590056" cy="2590056"/>
            <a:chOff x="0" y="0"/>
            <a:chExt cx="3453408" cy="3453408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3453384" cy="3453384"/>
            </a:xfrm>
            <a:custGeom>
              <a:avLst/>
              <a:gdLst/>
              <a:ahLst/>
              <a:cxnLst/>
              <a:rect l="l" t="t" r="r" b="b"/>
              <a:pathLst>
                <a:path w="3453384" h="3453384">
                  <a:moveTo>
                    <a:pt x="0" y="0"/>
                  </a:moveTo>
                  <a:lnTo>
                    <a:pt x="3453384" y="0"/>
                  </a:lnTo>
                  <a:lnTo>
                    <a:pt x="3453384" y="3453384"/>
                  </a:lnTo>
                  <a:lnTo>
                    <a:pt x="0" y="3453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4751844" y="4419302"/>
            <a:ext cx="2589908" cy="2589908"/>
            <a:chOff x="0" y="0"/>
            <a:chExt cx="3453210" cy="3453210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3453257" cy="3453257"/>
            </a:xfrm>
            <a:custGeom>
              <a:avLst/>
              <a:gdLst/>
              <a:ahLst/>
              <a:cxnLst/>
              <a:rect l="l" t="t" r="r" b="b"/>
              <a:pathLst>
                <a:path w="3453257" h="3453257">
                  <a:moveTo>
                    <a:pt x="0" y="0"/>
                  </a:moveTo>
                  <a:lnTo>
                    <a:pt x="3453257" y="0"/>
                  </a:lnTo>
                  <a:lnTo>
                    <a:pt x="3453257" y="3453257"/>
                  </a:lnTo>
                  <a:lnTo>
                    <a:pt x="0" y="3453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1" b="1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936575" y="7323684"/>
            <a:ext cx="16414849" cy="409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Demo URL: student-management-system-project.lovable.app/auth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6575" y="1390799"/>
            <a:ext cx="7136755" cy="958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Benefits for Schools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6575" y="3285976"/>
            <a:ext cx="8073629" cy="2437210"/>
            <a:chOff x="0" y="0"/>
            <a:chExt cx="10764838" cy="32496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64774" cy="3249549"/>
            </a:xfrm>
            <a:custGeom>
              <a:avLst/>
              <a:gdLst/>
              <a:ahLst/>
              <a:cxnLst/>
              <a:rect l="l" t="t" r="r" b="b"/>
              <a:pathLst>
                <a:path w="10764774" h="3249549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20934" y="0"/>
                  </a:lnTo>
                  <a:cubicBezTo>
                    <a:pt x="10655553" y="0"/>
                    <a:pt x="10764774" y="109220"/>
                    <a:pt x="10764774" y="243840"/>
                  </a:cubicBezTo>
                  <a:lnTo>
                    <a:pt x="10764774" y="3005709"/>
                  </a:lnTo>
                  <a:cubicBezTo>
                    <a:pt x="10764774" y="3140329"/>
                    <a:pt x="10655553" y="3249549"/>
                    <a:pt x="10520934" y="3249549"/>
                  </a:cubicBezTo>
                  <a:lnTo>
                    <a:pt x="243840" y="3249549"/>
                  </a:lnTo>
                  <a:cubicBezTo>
                    <a:pt x="109220" y="3249549"/>
                    <a:pt x="0" y="3140329"/>
                    <a:pt x="0" y="3005709"/>
                  </a:cubicBezTo>
                  <a:close/>
                </a:path>
              </a:pathLst>
            </a:custGeom>
            <a:solidFill>
              <a:srgbClr val="5C2438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36575" y="3247876"/>
            <a:ext cx="8073629" cy="152400"/>
            <a:chOff x="0" y="0"/>
            <a:chExt cx="10764838" cy="203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64774" cy="203200"/>
            </a:xfrm>
            <a:custGeom>
              <a:avLst/>
              <a:gdLst/>
              <a:ahLst/>
              <a:cxnLst/>
              <a:rect l="l" t="t" r="r" b="b"/>
              <a:pathLst>
                <a:path w="10764774" h="203200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10711307" y="0"/>
                  </a:lnTo>
                  <a:cubicBezTo>
                    <a:pt x="10740898" y="0"/>
                    <a:pt x="10764774" y="24003"/>
                    <a:pt x="10764774" y="53467"/>
                  </a:cubicBezTo>
                  <a:lnTo>
                    <a:pt x="10764774" y="149606"/>
                  </a:lnTo>
                  <a:cubicBezTo>
                    <a:pt x="10764774" y="179197"/>
                    <a:pt x="10740772" y="203073"/>
                    <a:pt x="10711307" y="203073"/>
                  </a:cubicBezTo>
                  <a:lnTo>
                    <a:pt x="53467" y="203073"/>
                  </a:lnTo>
                  <a:cubicBezTo>
                    <a:pt x="24003" y="203200"/>
                    <a:pt x="0" y="179197"/>
                    <a:pt x="0" y="149733"/>
                  </a:cubicBezTo>
                  <a:close/>
                </a:path>
              </a:pathLst>
            </a:custGeom>
            <a:solidFill>
              <a:srgbClr val="FFB393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572000" y="2884586"/>
            <a:ext cx="802779" cy="802779"/>
            <a:chOff x="0" y="0"/>
            <a:chExt cx="1070372" cy="10703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0356" cy="1070356"/>
            </a:xfrm>
            <a:custGeom>
              <a:avLst/>
              <a:gdLst/>
              <a:ahLst/>
              <a:cxnLst/>
              <a:rect l="l" t="t" r="r" b="b"/>
              <a:pathLst>
                <a:path w="1070356" h="1070356">
                  <a:moveTo>
                    <a:pt x="0" y="535178"/>
                  </a:moveTo>
                  <a:cubicBezTo>
                    <a:pt x="0" y="239649"/>
                    <a:pt x="239649" y="0"/>
                    <a:pt x="535178" y="0"/>
                  </a:cubicBezTo>
                  <a:cubicBezTo>
                    <a:pt x="830707" y="0"/>
                    <a:pt x="1070356" y="239649"/>
                    <a:pt x="1070356" y="535178"/>
                  </a:cubicBezTo>
                  <a:cubicBezTo>
                    <a:pt x="1070356" y="830707"/>
                    <a:pt x="830707" y="1070356"/>
                    <a:pt x="535178" y="1070356"/>
                  </a:cubicBezTo>
                  <a:cubicBezTo>
                    <a:pt x="239649" y="1070356"/>
                    <a:pt x="0" y="830707"/>
                    <a:pt x="0" y="535178"/>
                  </a:cubicBezTo>
                  <a:close/>
                </a:path>
              </a:pathLst>
            </a:custGeom>
            <a:solidFill>
              <a:srgbClr val="FFB393"/>
            </a:solidFill>
          </p:spPr>
        </p:sp>
      </p:grpSp>
      <p:sp>
        <p:nvSpPr>
          <p:cNvPr id="13" name="Freeform 13" descr="preencoded.png"/>
          <p:cNvSpPr/>
          <p:nvPr/>
        </p:nvSpPr>
        <p:spPr>
          <a:xfrm>
            <a:off x="4812804" y="3125391"/>
            <a:ext cx="321022" cy="321022"/>
          </a:xfrm>
          <a:custGeom>
            <a:avLst/>
            <a:gdLst/>
            <a:ahLst/>
            <a:cxnLst/>
            <a:rect l="l" t="t" r="r" b="b"/>
            <a:pathLst>
              <a:path w="321022" h="321022">
                <a:moveTo>
                  <a:pt x="0" y="0"/>
                </a:moveTo>
                <a:lnTo>
                  <a:pt x="321022" y="0"/>
                </a:lnTo>
                <a:lnTo>
                  <a:pt x="321022" y="321023"/>
                </a:lnTo>
                <a:lnTo>
                  <a:pt x="0" y="3210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411" r="-4411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42269" y="3907334"/>
            <a:ext cx="3568304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Efficiency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2269" y="4475709"/>
            <a:ext cx="7462242" cy="94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Automates repetitive tasks — saves staff hours each week.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77796" y="3285976"/>
            <a:ext cx="8073629" cy="2437210"/>
            <a:chOff x="0" y="0"/>
            <a:chExt cx="10764838" cy="32496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64774" cy="3249549"/>
            </a:xfrm>
            <a:custGeom>
              <a:avLst/>
              <a:gdLst/>
              <a:ahLst/>
              <a:cxnLst/>
              <a:rect l="l" t="t" r="r" b="b"/>
              <a:pathLst>
                <a:path w="10764774" h="3249549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20934" y="0"/>
                  </a:lnTo>
                  <a:cubicBezTo>
                    <a:pt x="10655553" y="0"/>
                    <a:pt x="10764774" y="109220"/>
                    <a:pt x="10764774" y="243840"/>
                  </a:cubicBezTo>
                  <a:lnTo>
                    <a:pt x="10764774" y="3005709"/>
                  </a:lnTo>
                  <a:cubicBezTo>
                    <a:pt x="10764774" y="3140329"/>
                    <a:pt x="10655553" y="3249549"/>
                    <a:pt x="10520934" y="3249549"/>
                  </a:cubicBezTo>
                  <a:lnTo>
                    <a:pt x="243840" y="3249549"/>
                  </a:lnTo>
                  <a:cubicBezTo>
                    <a:pt x="109220" y="3249549"/>
                    <a:pt x="0" y="3140329"/>
                    <a:pt x="0" y="3005709"/>
                  </a:cubicBezTo>
                  <a:close/>
                </a:path>
              </a:pathLst>
            </a:custGeom>
            <a:solidFill>
              <a:srgbClr val="5C2438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277796" y="3247876"/>
            <a:ext cx="8073629" cy="152400"/>
            <a:chOff x="0" y="0"/>
            <a:chExt cx="10764838" cy="203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64774" cy="203200"/>
            </a:xfrm>
            <a:custGeom>
              <a:avLst/>
              <a:gdLst/>
              <a:ahLst/>
              <a:cxnLst/>
              <a:rect l="l" t="t" r="r" b="b"/>
              <a:pathLst>
                <a:path w="10764774" h="203200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10711307" y="0"/>
                  </a:lnTo>
                  <a:cubicBezTo>
                    <a:pt x="10740898" y="0"/>
                    <a:pt x="10764774" y="24003"/>
                    <a:pt x="10764774" y="53467"/>
                  </a:cubicBezTo>
                  <a:lnTo>
                    <a:pt x="10764774" y="149606"/>
                  </a:lnTo>
                  <a:cubicBezTo>
                    <a:pt x="10764774" y="179197"/>
                    <a:pt x="10740772" y="203073"/>
                    <a:pt x="10711307" y="203073"/>
                  </a:cubicBezTo>
                  <a:lnTo>
                    <a:pt x="53467" y="203073"/>
                  </a:lnTo>
                  <a:cubicBezTo>
                    <a:pt x="24003" y="203200"/>
                    <a:pt x="0" y="179197"/>
                    <a:pt x="0" y="149733"/>
                  </a:cubicBezTo>
                  <a:close/>
                </a:path>
              </a:pathLst>
            </a:custGeom>
            <a:solidFill>
              <a:srgbClr val="FFB393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2913221" y="2884586"/>
            <a:ext cx="802779" cy="802779"/>
            <a:chOff x="0" y="0"/>
            <a:chExt cx="1070372" cy="10703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0356" cy="1070356"/>
            </a:xfrm>
            <a:custGeom>
              <a:avLst/>
              <a:gdLst/>
              <a:ahLst/>
              <a:cxnLst/>
              <a:rect l="l" t="t" r="r" b="b"/>
              <a:pathLst>
                <a:path w="1070356" h="1070356">
                  <a:moveTo>
                    <a:pt x="0" y="535178"/>
                  </a:moveTo>
                  <a:cubicBezTo>
                    <a:pt x="0" y="239649"/>
                    <a:pt x="239649" y="0"/>
                    <a:pt x="535178" y="0"/>
                  </a:cubicBezTo>
                  <a:cubicBezTo>
                    <a:pt x="830707" y="0"/>
                    <a:pt x="1070356" y="239649"/>
                    <a:pt x="1070356" y="535178"/>
                  </a:cubicBezTo>
                  <a:cubicBezTo>
                    <a:pt x="1070356" y="830707"/>
                    <a:pt x="830707" y="1070356"/>
                    <a:pt x="535178" y="1070356"/>
                  </a:cubicBezTo>
                  <a:cubicBezTo>
                    <a:pt x="239649" y="1070356"/>
                    <a:pt x="0" y="830707"/>
                    <a:pt x="0" y="535178"/>
                  </a:cubicBezTo>
                  <a:close/>
                </a:path>
              </a:pathLst>
            </a:custGeom>
            <a:solidFill>
              <a:srgbClr val="FFB393"/>
            </a:solidFill>
          </p:spPr>
        </p:sp>
      </p:grpSp>
      <p:sp>
        <p:nvSpPr>
          <p:cNvPr id="22" name="Freeform 22" descr="preencoded.png"/>
          <p:cNvSpPr/>
          <p:nvPr/>
        </p:nvSpPr>
        <p:spPr>
          <a:xfrm>
            <a:off x="13154025" y="3125391"/>
            <a:ext cx="321022" cy="321022"/>
          </a:xfrm>
          <a:custGeom>
            <a:avLst/>
            <a:gdLst/>
            <a:ahLst/>
            <a:cxnLst/>
            <a:rect l="l" t="t" r="r" b="b"/>
            <a:pathLst>
              <a:path w="321022" h="321022">
                <a:moveTo>
                  <a:pt x="0" y="0"/>
                </a:moveTo>
                <a:lnTo>
                  <a:pt x="321023" y="0"/>
                </a:lnTo>
                <a:lnTo>
                  <a:pt x="321023" y="321023"/>
                </a:lnTo>
                <a:lnTo>
                  <a:pt x="0" y="3210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470" r="-1470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9583490" y="3907334"/>
            <a:ext cx="3568304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Security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83490" y="4475709"/>
            <a:ext cx="7462242" cy="94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Role-based access and secure authentication protect student data.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36575" y="6392168"/>
            <a:ext cx="8073629" cy="2437210"/>
            <a:chOff x="0" y="0"/>
            <a:chExt cx="10764838" cy="324961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764774" cy="3249549"/>
            </a:xfrm>
            <a:custGeom>
              <a:avLst/>
              <a:gdLst/>
              <a:ahLst/>
              <a:cxnLst/>
              <a:rect l="l" t="t" r="r" b="b"/>
              <a:pathLst>
                <a:path w="10764774" h="3249549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20934" y="0"/>
                  </a:lnTo>
                  <a:cubicBezTo>
                    <a:pt x="10655553" y="0"/>
                    <a:pt x="10764774" y="109220"/>
                    <a:pt x="10764774" y="243840"/>
                  </a:cubicBezTo>
                  <a:lnTo>
                    <a:pt x="10764774" y="3005709"/>
                  </a:lnTo>
                  <a:cubicBezTo>
                    <a:pt x="10764774" y="3140329"/>
                    <a:pt x="10655553" y="3249549"/>
                    <a:pt x="10520934" y="3249549"/>
                  </a:cubicBezTo>
                  <a:lnTo>
                    <a:pt x="243840" y="3249549"/>
                  </a:lnTo>
                  <a:cubicBezTo>
                    <a:pt x="109220" y="3249549"/>
                    <a:pt x="0" y="3140329"/>
                    <a:pt x="0" y="3005709"/>
                  </a:cubicBezTo>
                  <a:close/>
                </a:path>
              </a:pathLst>
            </a:custGeom>
            <a:solidFill>
              <a:srgbClr val="5C2438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936575" y="6354068"/>
            <a:ext cx="8073629" cy="152400"/>
            <a:chOff x="0" y="0"/>
            <a:chExt cx="10764838" cy="203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764774" cy="203200"/>
            </a:xfrm>
            <a:custGeom>
              <a:avLst/>
              <a:gdLst/>
              <a:ahLst/>
              <a:cxnLst/>
              <a:rect l="l" t="t" r="r" b="b"/>
              <a:pathLst>
                <a:path w="10764774" h="203200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10711307" y="0"/>
                  </a:lnTo>
                  <a:cubicBezTo>
                    <a:pt x="10740898" y="0"/>
                    <a:pt x="10764774" y="24003"/>
                    <a:pt x="10764774" y="53467"/>
                  </a:cubicBezTo>
                  <a:lnTo>
                    <a:pt x="10764774" y="149606"/>
                  </a:lnTo>
                  <a:cubicBezTo>
                    <a:pt x="10764774" y="179197"/>
                    <a:pt x="10740772" y="203073"/>
                    <a:pt x="10711307" y="203073"/>
                  </a:cubicBezTo>
                  <a:lnTo>
                    <a:pt x="53467" y="203073"/>
                  </a:lnTo>
                  <a:cubicBezTo>
                    <a:pt x="24003" y="203200"/>
                    <a:pt x="0" y="179197"/>
                    <a:pt x="0" y="149733"/>
                  </a:cubicBezTo>
                  <a:close/>
                </a:path>
              </a:pathLst>
            </a:custGeom>
            <a:solidFill>
              <a:srgbClr val="FFB393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4572000" y="5990779"/>
            <a:ext cx="802779" cy="802779"/>
            <a:chOff x="0" y="0"/>
            <a:chExt cx="1070372" cy="10703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0356" cy="1070356"/>
            </a:xfrm>
            <a:custGeom>
              <a:avLst/>
              <a:gdLst/>
              <a:ahLst/>
              <a:cxnLst/>
              <a:rect l="l" t="t" r="r" b="b"/>
              <a:pathLst>
                <a:path w="1070356" h="1070356">
                  <a:moveTo>
                    <a:pt x="0" y="535178"/>
                  </a:moveTo>
                  <a:cubicBezTo>
                    <a:pt x="0" y="239649"/>
                    <a:pt x="239649" y="0"/>
                    <a:pt x="535178" y="0"/>
                  </a:cubicBezTo>
                  <a:cubicBezTo>
                    <a:pt x="830707" y="0"/>
                    <a:pt x="1070356" y="239649"/>
                    <a:pt x="1070356" y="535178"/>
                  </a:cubicBezTo>
                  <a:cubicBezTo>
                    <a:pt x="1070356" y="830707"/>
                    <a:pt x="830707" y="1070356"/>
                    <a:pt x="535178" y="1070356"/>
                  </a:cubicBezTo>
                  <a:cubicBezTo>
                    <a:pt x="239649" y="1070356"/>
                    <a:pt x="0" y="830707"/>
                    <a:pt x="0" y="535178"/>
                  </a:cubicBezTo>
                  <a:close/>
                </a:path>
              </a:pathLst>
            </a:custGeom>
            <a:solidFill>
              <a:srgbClr val="FFB393"/>
            </a:solidFill>
          </p:spPr>
        </p:sp>
      </p:grpSp>
      <p:sp>
        <p:nvSpPr>
          <p:cNvPr id="31" name="Freeform 31" descr="preencoded.png"/>
          <p:cNvSpPr/>
          <p:nvPr/>
        </p:nvSpPr>
        <p:spPr>
          <a:xfrm>
            <a:off x="4812804" y="6231582"/>
            <a:ext cx="321022" cy="321023"/>
          </a:xfrm>
          <a:custGeom>
            <a:avLst/>
            <a:gdLst/>
            <a:ahLst/>
            <a:cxnLst/>
            <a:rect l="l" t="t" r="r" b="b"/>
            <a:pathLst>
              <a:path w="321022" h="321023">
                <a:moveTo>
                  <a:pt x="0" y="0"/>
                </a:moveTo>
                <a:lnTo>
                  <a:pt x="321022" y="0"/>
                </a:lnTo>
                <a:lnTo>
                  <a:pt x="321022" y="321023"/>
                </a:lnTo>
                <a:lnTo>
                  <a:pt x="0" y="3210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7941" b="-27941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242269" y="7013525"/>
            <a:ext cx="3568304" cy="49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Mobile Responsive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2269" y="7581900"/>
            <a:ext cx="7462242" cy="94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Teachers and parents can view information on any device.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277796" y="6392168"/>
            <a:ext cx="8073629" cy="2437210"/>
            <a:chOff x="0" y="0"/>
            <a:chExt cx="10764838" cy="324961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764774" cy="3249549"/>
            </a:xfrm>
            <a:custGeom>
              <a:avLst/>
              <a:gdLst/>
              <a:ahLst/>
              <a:cxnLst/>
              <a:rect l="l" t="t" r="r" b="b"/>
              <a:pathLst>
                <a:path w="10764774" h="3249549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20934" y="0"/>
                  </a:lnTo>
                  <a:cubicBezTo>
                    <a:pt x="10655553" y="0"/>
                    <a:pt x="10764774" y="109220"/>
                    <a:pt x="10764774" y="243840"/>
                  </a:cubicBezTo>
                  <a:lnTo>
                    <a:pt x="10764774" y="3005709"/>
                  </a:lnTo>
                  <a:cubicBezTo>
                    <a:pt x="10764774" y="3140329"/>
                    <a:pt x="10655553" y="3249549"/>
                    <a:pt x="10520934" y="3249549"/>
                  </a:cubicBezTo>
                  <a:lnTo>
                    <a:pt x="243840" y="3249549"/>
                  </a:lnTo>
                  <a:cubicBezTo>
                    <a:pt x="109220" y="3249549"/>
                    <a:pt x="0" y="3140329"/>
                    <a:pt x="0" y="3005709"/>
                  </a:cubicBezTo>
                  <a:close/>
                </a:path>
              </a:pathLst>
            </a:custGeom>
            <a:solidFill>
              <a:srgbClr val="5C2438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9277796" y="6354068"/>
            <a:ext cx="8073629" cy="152400"/>
            <a:chOff x="0" y="0"/>
            <a:chExt cx="10764838" cy="203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764774" cy="203200"/>
            </a:xfrm>
            <a:custGeom>
              <a:avLst/>
              <a:gdLst/>
              <a:ahLst/>
              <a:cxnLst/>
              <a:rect l="l" t="t" r="r" b="b"/>
              <a:pathLst>
                <a:path w="10764774" h="203200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10711307" y="0"/>
                  </a:lnTo>
                  <a:cubicBezTo>
                    <a:pt x="10740898" y="0"/>
                    <a:pt x="10764774" y="24003"/>
                    <a:pt x="10764774" y="53467"/>
                  </a:cubicBezTo>
                  <a:lnTo>
                    <a:pt x="10764774" y="149606"/>
                  </a:lnTo>
                  <a:cubicBezTo>
                    <a:pt x="10764774" y="179197"/>
                    <a:pt x="10740772" y="203073"/>
                    <a:pt x="10711307" y="203073"/>
                  </a:cubicBezTo>
                  <a:lnTo>
                    <a:pt x="53467" y="203073"/>
                  </a:lnTo>
                  <a:cubicBezTo>
                    <a:pt x="24003" y="203200"/>
                    <a:pt x="0" y="179197"/>
                    <a:pt x="0" y="149733"/>
                  </a:cubicBezTo>
                  <a:close/>
                </a:path>
              </a:pathLst>
            </a:custGeom>
            <a:solidFill>
              <a:srgbClr val="FFB393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2913221" y="5990779"/>
            <a:ext cx="802779" cy="802779"/>
            <a:chOff x="0" y="0"/>
            <a:chExt cx="1070372" cy="107037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70356" cy="1070356"/>
            </a:xfrm>
            <a:custGeom>
              <a:avLst/>
              <a:gdLst/>
              <a:ahLst/>
              <a:cxnLst/>
              <a:rect l="l" t="t" r="r" b="b"/>
              <a:pathLst>
                <a:path w="1070356" h="1070356">
                  <a:moveTo>
                    <a:pt x="0" y="535178"/>
                  </a:moveTo>
                  <a:cubicBezTo>
                    <a:pt x="0" y="239649"/>
                    <a:pt x="239649" y="0"/>
                    <a:pt x="535178" y="0"/>
                  </a:cubicBezTo>
                  <a:cubicBezTo>
                    <a:pt x="830707" y="0"/>
                    <a:pt x="1070356" y="239649"/>
                    <a:pt x="1070356" y="535178"/>
                  </a:cubicBezTo>
                  <a:cubicBezTo>
                    <a:pt x="1070356" y="830707"/>
                    <a:pt x="830707" y="1070356"/>
                    <a:pt x="535178" y="1070356"/>
                  </a:cubicBezTo>
                  <a:cubicBezTo>
                    <a:pt x="239649" y="1070356"/>
                    <a:pt x="0" y="830707"/>
                    <a:pt x="0" y="535178"/>
                  </a:cubicBezTo>
                  <a:close/>
                </a:path>
              </a:pathLst>
            </a:custGeom>
            <a:solidFill>
              <a:srgbClr val="FFB393"/>
            </a:solidFill>
          </p:spPr>
        </p:sp>
      </p:grpSp>
      <p:sp>
        <p:nvSpPr>
          <p:cNvPr id="40" name="Freeform 40" descr="preencoded.png"/>
          <p:cNvSpPr/>
          <p:nvPr/>
        </p:nvSpPr>
        <p:spPr>
          <a:xfrm>
            <a:off x="13154025" y="6231582"/>
            <a:ext cx="321022" cy="321023"/>
          </a:xfrm>
          <a:custGeom>
            <a:avLst/>
            <a:gdLst/>
            <a:ahLst/>
            <a:cxnLst/>
            <a:rect l="l" t="t" r="r" b="b"/>
            <a:pathLst>
              <a:path w="321022" h="321023">
                <a:moveTo>
                  <a:pt x="0" y="0"/>
                </a:moveTo>
                <a:lnTo>
                  <a:pt x="321023" y="0"/>
                </a:lnTo>
                <a:lnTo>
                  <a:pt x="321023" y="321023"/>
                </a:lnTo>
                <a:lnTo>
                  <a:pt x="0" y="3210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7352" r="-7352"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9583490" y="7013525"/>
            <a:ext cx="3568304" cy="49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Real-time Tracking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83490" y="7581900"/>
            <a:ext cx="7462242" cy="51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Immediate visibility into attendance, grades, and fees.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6575" y="1617910"/>
            <a:ext cx="11771114" cy="95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Roadmap — Future Enhancements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36575" y="3145036"/>
            <a:ext cx="267592" cy="267593"/>
          </a:xfrm>
          <a:custGeom>
            <a:avLst/>
            <a:gdLst/>
            <a:ahLst/>
            <a:cxnLst/>
            <a:rect l="l" t="t" r="r" b="b"/>
            <a:pathLst>
              <a:path w="267592" h="267593">
                <a:moveTo>
                  <a:pt x="0" y="0"/>
                </a:moveTo>
                <a:lnTo>
                  <a:pt x="267593" y="0"/>
                </a:lnTo>
                <a:lnTo>
                  <a:pt x="267593" y="267593"/>
                </a:lnTo>
                <a:lnTo>
                  <a:pt x="0" y="267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36575" y="3528269"/>
            <a:ext cx="8073629" cy="38100"/>
            <a:chOff x="0" y="0"/>
            <a:chExt cx="10764838" cy="50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64901" cy="50800"/>
            </a:xfrm>
            <a:custGeom>
              <a:avLst/>
              <a:gdLst/>
              <a:ahLst/>
              <a:cxnLst/>
              <a:rect l="l" t="t" r="r" b="b"/>
              <a:pathLst>
                <a:path w="10764901" h="50800">
                  <a:moveTo>
                    <a:pt x="0" y="0"/>
                  </a:moveTo>
                  <a:lnTo>
                    <a:pt x="10764901" y="0"/>
                  </a:lnTo>
                  <a:lnTo>
                    <a:pt x="107649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B393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36575" y="3690640"/>
            <a:ext cx="5686574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AI Attendance (Face Recognition)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6575" y="4259015"/>
            <a:ext cx="8073629" cy="94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Automated check-in to reduce teacher burden and improve accuracy.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9277796" y="3145036"/>
            <a:ext cx="267593" cy="267593"/>
          </a:xfrm>
          <a:custGeom>
            <a:avLst/>
            <a:gdLst/>
            <a:ahLst/>
            <a:cxnLst/>
            <a:rect l="l" t="t" r="r" b="b"/>
            <a:pathLst>
              <a:path w="267593" h="267593">
                <a:moveTo>
                  <a:pt x="0" y="0"/>
                </a:moveTo>
                <a:lnTo>
                  <a:pt x="267593" y="0"/>
                </a:lnTo>
                <a:lnTo>
                  <a:pt x="267593" y="267593"/>
                </a:lnTo>
                <a:lnTo>
                  <a:pt x="0" y="2675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9277796" y="3528269"/>
            <a:ext cx="8073629" cy="38100"/>
            <a:chOff x="0" y="0"/>
            <a:chExt cx="10764838" cy="50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64901" cy="50800"/>
            </a:xfrm>
            <a:custGeom>
              <a:avLst/>
              <a:gdLst/>
              <a:ahLst/>
              <a:cxnLst/>
              <a:rect l="l" t="t" r="r" b="b"/>
              <a:pathLst>
                <a:path w="10764901" h="50800">
                  <a:moveTo>
                    <a:pt x="0" y="0"/>
                  </a:moveTo>
                  <a:lnTo>
                    <a:pt x="10764901" y="0"/>
                  </a:lnTo>
                  <a:lnTo>
                    <a:pt x="107649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B393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277796" y="3690640"/>
            <a:ext cx="3569940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Analytics Dashboard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77796" y="4259015"/>
            <a:ext cx="8073629" cy="94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Visual insights for student performance, trends, and intervention flags.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936575" y="5702350"/>
            <a:ext cx="267592" cy="267592"/>
          </a:xfrm>
          <a:custGeom>
            <a:avLst/>
            <a:gdLst/>
            <a:ahLst/>
            <a:cxnLst/>
            <a:rect l="l" t="t" r="r" b="b"/>
            <a:pathLst>
              <a:path w="267592" h="267592">
                <a:moveTo>
                  <a:pt x="0" y="0"/>
                </a:moveTo>
                <a:lnTo>
                  <a:pt x="267593" y="0"/>
                </a:lnTo>
                <a:lnTo>
                  <a:pt x="267593" y="267592"/>
                </a:lnTo>
                <a:lnTo>
                  <a:pt x="0" y="2675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620" r="-8620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936575" y="6085582"/>
            <a:ext cx="8073629" cy="38100"/>
            <a:chOff x="0" y="0"/>
            <a:chExt cx="10764838" cy="50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64901" cy="50800"/>
            </a:xfrm>
            <a:custGeom>
              <a:avLst/>
              <a:gdLst/>
              <a:ahLst/>
              <a:cxnLst/>
              <a:rect l="l" t="t" r="r" b="b"/>
              <a:pathLst>
                <a:path w="10764901" h="50800">
                  <a:moveTo>
                    <a:pt x="0" y="0"/>
                  </a:moveTo>
                  <a:lnTo>
                    <a:pt x="10764901" y="0"/>
                  </a:lnTo>
                  <a:lnTo>
                    <a:pt x="107649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B393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36575" y="6247954"/>
            <a:ext cx="4550271" cy="49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Automated Fee Reminders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6575" y="6816327"/>
            <a:ext cx="8073629" cy="94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Scheduled notifications via SMS and email to improve collections.</a:t>
            </a:r>
          </a:p>
        </p:txBody>
      </p:sp>
      <p:sp>
        <p:nvSpPr>
          <p:cNvPr id="22" name="Freeform 22" descr="preencoded.png"/>
          <p:cNvSpPr/>
          <p:nvPr/>
        </p:nvSpPr>
        <p:spPr>
          <a:xfrm>
            <a:off x="9277796" y="5702350"/>
            <a:ext cx="267593" cy="267592"/>
          </a:xfrm>
          <a:custGeom>
            <a:avLst/>
            <a:gdLst/>
            <a:ahLst/>
            <a:cxnLst/>
            <a:rect l="l" t="t" r="r" b="b"/>
            <a:pathLst>
              <a:path w="267593" h="267592">
                <a:moveTo>
                  <a:pt x="0" y="0"/>
                </a:moveTo>
                <a:lnTo>
                  <a:pt x="267593" y="0"/>
                </a:lnTo>
                <a:lnTo>
                  <a:pt x="267593" y="267592"/>
                </a:lnTo>
                <a:lnTo>
                  <a:pt x="0" y="2675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6896" b="-6896"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9277796" y="6085582"/>
            <a:ext cx="8073629" cy="38100"/>
            <a:chOff x="0" y="0"/>
            <a:chExt cx="10764838" cy="50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64901" cy="50800"/>
            </a:xfrm>
            <a:custGeom>
              <a:avLst/>
              <a:gdLst/>
              <a:ahLst/>
              <a:cxnLst/>
              <a:rect l="l" t="t" r="r" b="b"/>
              <a:pathLst>
                <a:path w="10764901" h="50800">
                  <a:moveTo>
                    <a:pt x="0" y="0"/>
                  </a:moveTo>
                  <a:lnTo>
                    <a:pt x="10764901" y="0"/>
                  </a:lnTo>
                  <a:lnTo>
                    <a:pt x="107649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B393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9277796" y="6247954"/>
            <a:ext cx="4000203" cy="49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Mobile App Integration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77796" y="6816327"/>
            <a:ext cx="8073629" cy="94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Native apps for offline use, push notifications, and parent engagement.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6575" y="8193137"/>
            <a:ext cx="16414849" cy="409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Prioritization focuses on high-impact features that reduce admin time and increase engagement.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6575" y="790426"/>
            <a:ext cx="7533680" cy="860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4999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Conclusion &amp; Next Steps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6575" y="2185839"/>
            <a:ext cx="9613850" cy="2282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7"/>
              </a:lnSpc>
            </a:pPr>
            <a:r>
              <a:rPr lang="en-US" sz="6937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Simplify. Secure. Scale.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6575" y="4633169"/>
            <a:ext cx="9613850" cy="123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Lovable AI Student Management System streamlines academic operations with automation, centralized data, and a responsive design tailored for schools.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6575" y="6005364"/>
            <a:ext cx="9613850" cy="461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00"/>
              </a:lnSpc>
              <a:buFont typeface="Arial"/>
              <a:buChar char="•"/>
            </a:pPr>
            <a:r>
              <a:rPr lang="en-US" sz="1874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Request a pilot deployment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6575" y="6474767"/>
            <a:ext cx="9613850" cy="461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00"/>
              </a:lnSpc>
              <a:buFont typeface="Arial"/>
              <a:buChar char="•"/>
            </a:pPr>
            <a:r>
              <a:rPr lang="en-US" sz="1874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migration plan and staff training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6575" y="6944171"/>
            <a:ext cx="9613850" cy="461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00"/>
              </a:lnSpc>
              <a:buFont typeface="Arial"/>
              <a:buChar char="•"/>
            </a:pPr>
            <a:r>
              <a:rPr lang="en-US" sz="1874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Custom integrations and timeline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1147524" y="2282578"/>
            <a:ext cx="5591919" cy="5591919"/>
            <a:chOff x="0" y="0"/>
            <a:chExt cx="7455892" cy="7455892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7455916" cy="7455916"/>
            </a:xfrm>
            <a:custGeom>
              <a:avLst/>
              <a:gdLst/>
              <a:ahLst/>
              <a:cxnLst/>
              <a:rect l="l" t="t" r="r" b="b"/>
              <a:pathLst>
                <a:path w="7455916" h="7455916">
                  <a:moveTo>
                    <a:pt x="0" y="0"/>
                  </a:moveTo>
                  <a:lnTo>
                    <a:pt x="7455916" y="0"/>
                  </a:lnTo>
                  <a:lnTo>
                    <a:pt x="7455916" y="7455916"/>
                  </a:lnTo>
                  <a:lnTo>
                    <a:pt x="0" y="7455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36575" y="8416230"/>
            <a:ext cx="16414849" cy="1023194"/>
            <a:chOff x="0" y="0"/>
            <a:chExt cx="21886465" cy="13642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886419" cy="1364234"/>
            </a:xfrm>
            <a:custGeom>
              <a:avLst/>
              <a:gdLst/>
              <a:ahLst/>
              <a:cxnLst/>
              <a:rect l="l" t="t" r="r" b="b"/>
              <a:pathLst>
                <a:path w="21886419" h="1364234">
                  <a:moveTo>
                    <a:pt x="0" y="48133"/>
                  </a:moveTo>
                  <a:cubicBezTo>
                    <a:pt x="0" y="21590"/>
                    <a:pt x="21590" y="0"/>
                    <a:pt x="48133" y="0"/>
                  </a:cubicBezTo>
                  <a:lnTo>
                    <a:pt x="21838286" y="0"/>
                  </a:lnTo>
                  <a:cubicBezTo>
                    <a:pt x="21864828" y="0"/>
                    <a:pt x="21886419" y="21590"/>
                    <a:pt x="21886419" y="48133"/>
                  </a:cubicBezTo>
                  <a:lnTo>
                    <a:pt x="21886419" y="1316101"/>
                  </a:lnTo>
                  <a:cubicBezTo>
                    <a:pt x="21886419" y="1342644"/>
                    <a:pt x="21864828" y="1364234"/>
                    <a:pt x="21838286" y="1364234"/>
                  </a:cubicBezTo>
                  <a:lnTo>
                    <a:pt x="48133" y="1364234"/>
                  </a:lnTo>
                  <a:cubicBezTo>
                    <a:pt x="21590" y="1364234"/>
                    <a:pt x="0" y="1342644"/>
                    <a:pt x="0" y="1316101"/>
                  </a:cubicBezTo>
                  <a:close/>
                </a:path>
              </a:pathLst>
            </a:custGeom>
            <a:solidFill>
              <a:srgbClr val="4D1700"/>
            </a:solid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77379" y="8782645"/>
            <a:ext cx="301079" cy="240804"/>
            <a:chOff x="0" y="0"/>
            <a:chExt cx="401438" cy="321072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401447" cy="321056"/>
            </a:xfrm>
            <a:custGeom>
              <a:avLst/>
              <a:gdLst/>
              <a:ahLst/>
              <a:cxnLst/>
              <a:rect l="l" t="t" r="r" b="b"/>
              <a:pathLst>
                <a:path w="401447" h="321056">
                  <a:moveTo>
                    <a:pt x="0" y="0"/>
                  </a:moveTo>
                  <a:lnTo>
                    <a:pt x="401447" y="0"/>
                  </a:lnTo>
                  <a:lnTo>
                    <a:pt x="401447" y="321056"/>
                  </a:lnTo>
                  <a:lnTo>
                    <a:pt x="0" y="321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87" r="-1185" b="-4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719262" y="8640961"/>
            <a:ext cx="15391359" cy="461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you — Developed as a mini project using free AI tools. Contact the demo site to begin a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597</Words>
  <Application>Microsoft Office PowerPoint</Application>
  <PresentationFormat>Custom</PresentationFormat>
  <Paragraphs>89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Welcome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Student-Management-System-Lovable-AI-Web-App (1).pptx</dc:title>
  <dc:creator>HP</dc:creator>
  <cp:lastModifiedBy>Shravan Reddy</cp:lastModifiedBy>
  <cp:revision>4</cp:revision>
  <dcterms:created xsi:type="dcterms:W3CDTF">2006-08-16T00:00:00Z</dcterms:created>
  <dcterms:modified xsi:type="dcterms:W3CDTF">2025-10-18T09:12:47Z</dcterms:modified>
  <dc:identifier>DAG2D_EyDH0</dc:identifier>
  <cp:contentStatus/>
</cp:coreProperties>
</file>